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0E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0E2B"/>
                </a:solidFill>
                <a:latin typeface="Arial"/>
              </a:rPr>
              <a:t>Kit allocation (of 1,500 total) by α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Camp Alpha</c:v>
                </c:pt>
              </c:strCache>
            </c:strRef>
          </c:tx>
          <c:spPr>
            <a:solidFill>
              <a:srgbClr val="3B0A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α=0.0</c:v>
                  </c:pt>
                  <c:pt idx="1">
                    <c:v>α=0.3</c:v>
                  </c:pt>
                  <c:pt idx="2">
                    <c:v>α=1.0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501</c:v>
                </c:pt>
                <c:pt idx="1">
                  <c:v>501</c:v>
                </c:pt>
                <c:pt idx="2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Camp Beta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α=0.0</c:v>
                  </c:pt>
                  <c:pt idx="1">
                    <c:v>α=0.3</c:v>
                  </c:pt>
                  <c:pt idx="2">
                    <c:v>α=1.0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537</c:v>
                </c:pt>
                <c:pt idx="1">
                  <c:v>526</c:v>
                </c:pt>
                <c:pt idx="2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Camp Gamma</c:v>
                </c:pt>
              </c:strCache>
            </c:strRef>
          </c:tx>
          <c:spPr>
            <a:solidFill>
              <a:srgbClr val="1FA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α=0.0</c:v>
                  </c:pt>
                  <c:pt idx="1">
                    <c:v>α=0.3</c:v>
                  </c:pt>
                  <c:pt idx="2">
                    <c:v>α=1.0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462</c:v>
                </c:pt>
                <c:pt idx="1">
                  <c:v>473</c:v>
                </c:pt>
                <c:pt idx="2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3B0A6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3B0A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FFFFFF"/>
                </a:solidFill>
              </a:rPr>
              <a:t>🛡</a:t>
            </a:r>
            <a:endParaRPr lang="en-US" sz="252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× SDG × AI ETHICS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AegisAid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Humanitarian Resource AI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9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food, shelter, and healthcare aid to ~120,000 displaced people across three camps — while being structurally incapable of exposing a single one of them.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PROMPT  •  Data for the Displaced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DILEMMA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0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 data can protect people — or expose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92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ago, a partner NGO's database was breached. Location and family data on displaced people ended up circulating among hostile actors — leading to real harm. Camp leadership now demands proof, not promises: any new system must be more effective at directing aid, and structurally incapable of exposing individuals, even under government or NGO pressure to share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78308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18928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0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052560" y="18928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 people across 3 camps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301752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312724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0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052560" y="312724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vectors: linkage, reconstruction, coercion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425196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35240" y="436168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0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052560" y="436168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fields ever stored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three-layer defense, built into the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3931920"/>
          </a:xfrm>
          <a:prstGeom prst="roundRect">
            <a:avLst>
              <a:gd name="adj" fmla="val 3544"/>
            </a:avLst>
          </a:prstGeom>
          <a:solidFill>
            <a:srgbClr val="271640"/>
          </a:solidFill>
          <a:ln w="12700">
            <a:solidFill>
              <a:srgbClr val="423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k-Anonymity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records by camp / gender / age band. Any cohort smaller than k = 15 is suppressed before it's ever exported.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611880" cy="3931920"/>
          </a:xfrm>
          <a:prstGeom prst="roundRect">
            <a:avLst>
              <a:gd name="adj" fmla="val 3544"/>
            </a:avLst>
          </a:prstGeom>
          <a:solidFill>
            <a:srgbClr val="271640"/>
          </a:solidFill>
          <a:ln w="12700">
            <a:solidFill>
              <a:srgbClr val="423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6D3FA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Differential Privacy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Laplace noise is added to every aggregate before it leaves the device — outputs stay useful, individuals stay invisible.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611880" cy="3931920"/>
          </a:xfrm>
          <a:prstGeom prst="roundRect">
            <a:avLst>
              <a:gd name="adj" fmla="val 3544"/>
            </a:avLst>
          </a:prstGeom>
          <a:solidFill>
            <a:srgbClr val="271640"/>
          </a:solidFill>
          <a:ln w="12700">
            <a:solidFill>
              <a:srgbClr val="4230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1FAE79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971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Sandbox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703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runs client-side. No central database exists to breach, seize, or subpoena.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system that must prove safety mathematically — not just claim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GUARANTEES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0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on a 10,000-household synthetic dataset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1234440"/>
          </a:xfrm>
          <a:prstGeom prst="roundRect">
            <a:avLst>
              <a:gd name="adj" fmla="val 7407"/>
            </a:avLst>
          </a:prstGeom>
          <a:solidFill>
            <a:srgbClr val="1B0E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Reported_Sum  =  Actual_Sum  +  Laplace( 0,  Δf / ε )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C9BE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Sensitivity Δf = 1.0   •   ε = 0.5 for shared aggregates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7373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0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15  →  20 / 10,000 records suppressed (0.2%)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seed = 42 in scripts/synthetic_gen.py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2461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0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0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re-identification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k ≥ 10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30632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32461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0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0" y="4069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0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343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full privacy protection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30632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32461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0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12480" y="4069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0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execution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343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DB to breach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Linkage-attack simulator (live in the dashboard): risk climbs to ~30% only if k is weakened to 2 — confirming k=15 is the safe operating point.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ALLOCATION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0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dial between raw efficiency and equal treatment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3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need-based optimization can systematically under-serve smaller or lower-need camps. AegisAid exposes a single fairness parameter (α) that field directors can tune live: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035040" cy="1005840"/>
          </a:xfrm>
          <a:prstGeom prst="roundRect">
            <a:avLst>
              <a:gd name="adj" fmla="val 9091"/>
            </a:avLst>
          </a:prstGeom>
          <a:solidFill>
            <a:srgbClr val="1B0E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060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Share_c = (1 − α)·(Need_c / Total_Need) + α·(1 / Num_Camps)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0.3 is our recommended balance: mostly need-driven, with a fairness floor for smaller camps.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0" y="160020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 BY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that works for low-literacy, high-vulnerability intake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94360" cy="594360"/>
          </a:xfrm>
          <a:prstGeom prst="ellipse">
            <a:avLst/>
          </a:prstGeom>
          <a:solidFill>
            <a:srgbClr val="3B0A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Spoken explanations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consent in English, Arabic, French, and Somali — no reading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3B0A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Pictographic choices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63040" y="36118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icons show what is and isn't collected — crossed-out identifiers signal the safety boundary.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3B0A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572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Non-coercive by design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63040" y="49377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consent never denies aid — the household simply receives the camp-average basket.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1965960"/>
            <a:ext cx="5074920" cy="3749040"/>
          </a:xfrm>
          <a:prstGeom prst="roundRect">
            <a:avLst>
              <a:gd name="adj" fmla="val 3415"/>
            </a:avLst>
          </a:prstGeom>
          <a:solidFill>
            <a:srgbClr val="271640"/>
          </a:solidFill>
          <a:ln w="12700">
            <a:solidFill>
              <a:srgbClr val="4230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flow, as seen by the field worker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6517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✦"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Play spoken explanation in the household's language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Show pictogram of what data is (and isn't) kept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Household taps YES or NO — both lead to aid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Response logged with zero identifying fields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BEYOND THE CORE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0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warning, fully offline, zero dependencies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93192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3B0A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0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Epidemic early warning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outbreak trigger renders a live anomaly spike on the aggregate disease-rate feed — without ever touching an individual health record.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611880" cy="393192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11680"/>
            <a:ext cx="685800" cy="685800"/>
          </a:xfrm>
          <a:prstGeom prst="ellipse">
            <a:avLst/>
          </a:prstGeom>
          <a:solidFill>
            <a:srgbClr val="3B0A6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0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offline capable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runs entirely in-browser with no server and no external API calls once loaded — resilient to network shutdowns or local censorship.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11880" cy="393192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4DAF0"/>
            </a:solidFill>
            <a:prstDash val="solid"/>
          </a:ln>
          <a:effectLst>
            <a:outerShdw sx="100000" sy="100000" kx="0" ky="0" algn="bl" rotWithShape="0" blurRad="101600" dist="38100" dir="5400000">
              <a:srgbClr val="3B0A6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011680"/>
            <a:ext cx="685800" cy="685800"/>
          </a:xfrm>
          <a:prstGeom prst="ellipse">
            <a:avLst/>
          </a:prstGeom>
          <a:solidFill>
            <a:srgbClr val="3B0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834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1B0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external dependencies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03920" y="356616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Python scripts use only the standard library — judges can run the demo with a stock Python install, no `pip install` required.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EXPLICIT, NOT JUST CLAIMED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privacy costs us — and why it's worth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023360"/>
          </a:xfrm>
          <a:prstGeom prst="roundRect">
            <a:avLst>
              <a:gd name="adj" fmla="val 3182"/>
            </a:avLst>
          </a:prstGeom>
          <a:solidFill>
            <a:srgbClr val="271640"/>
          </a:solidFill>
          <a:ln w="12700">
            <a:solidFill>
              <a:srgbClr val="423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≈8% lower allocation precision vs. an unprotected optimum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households (0.2%) generalized into broader cohorts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Small-camp / minority-group stats are noisier at low 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577840" cy="4023360"/>
          </a:xfrm>
          <a:prstGeom prst="roundRect">
            <a:avLst>
              <a:gd name="adj" fmla="val 3182"/>
            </a:avLst>
          </a:prstGeom>
          <a:solidFill>
            <a:srgbClr val="271640"/>
          </a:solidFill>
          <a:ln w="12700">
            <a:solidFill>
              <a:srgbClr val="423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 we're making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3774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4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quantified drop in allocation precision buys a mathematical guarantee — not a policy promise — that no exported statistic can ever be traced back to a household smaller than 15 people, and that no central database exists for a hostile actor or coercive authority to demand.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explicit trade-off the brief asked for.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0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3B0A63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A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Advancing the SDGs — without a data trail to weaponize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716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716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20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716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20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182880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2716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920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5256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Working prototype + Do-No-Harm assessment + full documentation in the linked GitHub repository.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github.com/&lt;your-username&gt;/aegisaid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AegisAid  •  WiePrompt Hackathon: Data for the Displaced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AegisAid — Privacy-Safe Humanitarian Resource AI</dc:title>
  <dc:subject>PptxGenJS Presentation</dc:subject>
  <dc:creator>AegisAid Team</dc:creator>
  <cp:lastModifiedBy>AegisAid Team</cp:lastModifiedBy>
  <cp:revision>1</cp:revision>
  <dcterms:created xsi:type="dcterms:W3CDTF">2026-07-07T18:27:04Z</dcterms:created>
  <dcterms:modified xsi:type="dcterms:W3CDTF">2026-07-07T18:27:04Z</dcterms:modified>
</cp:coreProperties>
</file>